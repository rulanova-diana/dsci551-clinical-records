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949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712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633" y="1709738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82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82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82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791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869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332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157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785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533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09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905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913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732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A6FF"/>
                </a:solidFill>
              </a:rPr>
              <a:t>DSCI 551  · 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6FC"/>
                </a:solidFill>
              </a:rPr>
              <a:t>Clinical Diagnosis and
Treatment Records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68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</a:rPr>
              <a:t>Exploring PostgreSQL Internals: B-Tree Indexing &amp; MVCC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108960"/>
            <a:ext cx="11430000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32918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8A6FF"/>
                </a:solidFill>
              </a:rPr>
              <a:t>Diana Rulanova  ·  Eliza Loke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74903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</a:rPr>
              <a:t>University of Southern California  ·  DSCI 551 Data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F6FC"/>
                </a:solidFill>
              </a:rPr>
              <a:t>Motivation &amp; Goals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1430000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5394960" cy="43891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</a:rPr>
              <a:t>Why PostgreSQL?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9D1D9"/>
                </a:solidFill>
              </a:rPr>
              <a:t>•  Mature, production-grade RDBMS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9D1D9"/>
                </a:solidFill>
              </a:rPr>
              <a:t>•  Strong support for indexing &amp; transactions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9D1D9"/>
                </a:solidFill>
              </a:rPr>
              <a:t>•  Internals are observable via EXPLAIN ANALYZE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9D1D9"/>
                </a:solidFill>
              </a:rPr>
              <a:t>•  MVCC built into the core engine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9D1D9"/>
                </a:solidFill>
              </a:rPr>
              <a:t>•  Real-world adoption in healthcare systems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828800"/>
            <a:ext cx="5669280" cy="43891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965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</a:rPr>
              <a:t>Project Goals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9D1D9"/>
                </a:solidFill>
              </a:rPr>
              <a:t>•  Analyze B-tree index behavior in real queries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9D1D9"/>
                </a:solidFill>
              </a:rPr>
              <a:t>•  Compare Index Scan vs Sequential Scan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9D1D9"/>
                </a:solidFill>
              </a:rPr>
              <a:t>•  Demonstrate MVCC with concurrent transactions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9D1D9"/>
                </a:solidFill>
              </a:rPr>
              <a:t>•  Show row-level locking with SELECT FOR UPDATE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9D1D9"/>
                </a:solidFill>
              </a:rPr>
              <a:t>•  Map each app operation to a DB internal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3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</a:rPr>
              <a:t>APPLICATION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F6FC"/>
                </a:solidFill>
              </a:rPr>
              <a:t>Database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1430000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2468880" cy="2194560"/>
          </a:xfrm>
          <a:prstGeom prst="rect">
            <a:avLst/>
          </a:prstGeom>
          <a:solidFill>
            <a:srgbClr val="1F262D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A6FF"/>
                </a:solidFill>
              </a:rPr>
              <a:t>PATIENTS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</a:rPr>
              <a:t>patient_id PK
full_name · dob
contact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828800"/>
            <a:ext cx="2468880" cy="2194560"/>
          </a:xfrm>
          <a:prstGeom prst="rect">
            <a:avLst/>
          </a:prstGeom>
          <a:solidFill>
            <a:srgbClr val="1F262D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A6FF"/>
                </a:solidFill>
              </a:rPr>
              <a:t>ENCOUNTERS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3317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</a:rPr>
              <a:t>encounter_id PK
patient_id FK
provider_id FK
encounter_date · complaint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1828800"/>
            <a:ext cx="2468880" cy="2194560"/>
          </a:xfrm>
          <a:prstGeom prst="rect">
            <a:avLst/>
          </a:prstGeom>
          <a:solidFill>
            <a:srgbClr val="1F262D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72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A6FF"/>
                </a:solidFill>
              </a:rPr>
              <a:t>DIAGNOSES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3317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</a:rPr>
              <a:t>diagnosis_id PK
encounter_id FK
diagnosis_code
description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828800"/>
            <a:ext cx="2468880" cy="2194560"/>
          </a:xfrm>
          <a:prstGeom prst="rect">
            <a:avLst/>
          </a:prstGeom>
          <a:solidFill>
            <a:srgbClr val="1F262D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A6FF"/>
                </a:solidFill>
              </a:rPr>
              <a:t>TREATMENTS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3317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</a:rPr>
              <a:t>treatment_id PK
diagnosis_id FK
treatment_plan
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297680"/>
            <a:ext cx="2468880" cy="1828800"/>
          </a:xfrm>
          <a:prstGeom prst="rect">
            <a:avLst/>
          </a:prstGeom>
          <a:solidFill>
            <a:srgbClr val="1F262D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A6FF"/>
                </a:solidFill>
              </a:rPr>
              <a:t>PROVIDERS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75488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</a:rPr>
              <a:t>provider_id PK
full_name · specialty
contact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4114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</a:rPr>
              <a:t>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4297680"/>
            <a:ext cx="8961120" cy="19202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17520" y="440740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</a:rPr>
              <a:t>Dataset &amp; Indexes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754880"/>
            <a:ext cx="8595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Dataset:   1,000 patients  ·  50 providers  ·  10,000 encounters  ·  ~20,000 diagnoses  ·  ~30,000 treatments</a:t>
            </a:r>
          </a:p>
          <a:p>
            <a:pPr>
              <a:spcAft>
                <a:spcPts val="200"/>
              </a:spcAft>
            </a:pPr>
            <a:endParaRPr sz="1200" b="0">
              <a:solidFill>
                <a:srgbClr val="C9D1D9"/>
              </a:solidFill>
            </a:endParaRP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56D364"/>
                </a:solidFill>
              </a:rPr>
              <a:t>idx_diagnoses_code              →  B-tree on diagnoses(diagnosis_code)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56D364"/>
                </a:solidFill>
              </a:rPr>
              <a:t>idx_encounters_patient_date  →  B-tree on encounters(patient_id, encounter_date)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4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</a:rPr>
              <a:t>INTERNAL FOCUS  ·  DIANA RULANOVA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F6FC"/>
                </a:solidFill>
              </a:rPr>
              <a:t>B-Tree Indexing in PostgreSQL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1430000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5486400" cy="47548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</a:rPr>
              <a:t>How B-Tree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9D1D9"/>
                </a:solidFill>
              </a:rPr>
              <a:t>•  Default index type in PostgreSQL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9D1D9"/>
                </a:solidFill>
              </a:rPr>
              <a:t>•  Balanced tree: root → internal → leaf pages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9D1D9"/>
                </a:solidFill>
              </a:rPr>
              <a:t>•  Leaf pages store (key, heap TID) pairs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9D1D9"/>
                </a:solidFill>
              </a:rPr>
              <a:t>•  Lookup cost:  O(log n)  vs  O(n) for sequential scan</a:t>
            </a:r>
          </a:p>
          <a:p>
            <a:pPr>
              <a:spcAft>
                <a:spcPts val="200"/>
              </a:spcAft>
            </a:pPr>
            <a:endParaRPr sz="1300" b="0">
              <a:solidFill>
                <a:srgbClr val="C9D1D9"/>
              </a:solidFill>
            </a:endParaRP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F0F6FC"/>
                </a:solidFill>
              </a:rPr>
              <a:t>Planner strategies: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9D1D9"/>
                </a:solidFill>
              </a:rPr>
              <a:t>   Index Scan          few matching rows, pointer-by-pointer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9D1D9"/>
                </a:solidFill>
              </a:rPr>
              <a:t>   Bitmap Index Scan  many rows, batch heap read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9D1D9"/>
                </a:solidFill>
              </a:rPr>
              <a:t>   Sequential Scan    when index won't help (e.g. aggregations)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5577840" cy="47548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</a:rPr>
              <a:t>Composite Index Benefit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31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</a:rPr>
              <a:t>Index on  (patient_id, encounter_date):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2788920"/>
            <a:ext cx="5212080" cy="777240"/>
          </a:xfrm>
          <a:prstGeom prst="rect">
            <a:avLst/>
          </a:prstGeom>
          <a:solidFill>
            <a:srgbClr val="080D13"/>
          </a:solidFill>
          <a:ln w="1270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56248" y="2880360"/>
            <a:ext cx="4992624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9C0FF"/>
                </a:solidFill>
                <a:latin typeface="Courier New"/>
              </a:rPr>
              <a:t>WHERE  patient_id = 50</a:t>
            </a:r>
          </a:p>
          <a:p>
            <a:r>
              <a:rPr sz="1100">
                <a:solidFill>
                  <a:srgbClr val="79C0FF"/>
                </a:solidFill>
                <a:latin typeface="Courier New"/>
              </a:rPr>
              <a:t>ORDER  BY encounter_date DESC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6576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9D1D9"/>
                </a:solidFill>
              </a:rPr>
              <a:t>•  Left prefix  →  filters by patient_id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9D1D9"/>
                </a:solidFill>
              </a:rPr>
              <a:t>•  Right column  →  data already sorted by date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56D364"/>
                </a:solidFill>
              </a:rPr>
              <a:t>•  No extra Sort node in the query plan</a:t>
            </a:r>
          </a:p>
          <a:p>
            <a:pPr>
              <a:spcAft>
                <a:spcPts val="200"/>
              </a:spcAft>
            </a:pPr>
            <a:endParaRPr sz="1300" b="1">
              <a:solidFill>
                <a:srgbClr val="56D364"/>
              </a:solidFill>
            </a:endParaRP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9D1D9"/>
                </a:solidFill>
              </a:rPr>
              <a:t>This 'skip sort' optimization eliminates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9D1D9"/>
                </a:solidFill>
              </a:rPr>
              <a:t>a separate sorting step — saving both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9D1D9"/>
                </a:solidFill>
              </a:rPr>
              <a:t>time and memory for large result sets.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5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</a:rPr>
              <a:t>DEMO  ·  OPERATION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F6FC"/>
                </a:solidFill>
              </a:rPr>
              <a:t>Diagnosis Lookup by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1430000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5486400" cy="47548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</a:rPr>
              <a:t>What the App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</a:rPr>
              <a:t>Clinician searches diagnoses by ICD-style code (e.g. G43 = Migraine).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880360"/>
            <a:ext cx="5120640" cy="1371600"/>
          </a:xfrm>
          <a:prstGeom prst="rect">
            <a:avLst/>
          </a:prstGeom>
          <a:solidFill>
            <a:srgbClr val="080D13"/>
          </a:solidFill>
          <a:ln w="1270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2971800"/>
            <a:ext cx="4901183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9C0FF"/>
                </a:solidFill>
                <a:latin typeface="Courier New"/>
              </a:rPr>
              <a:t>SELECT diagnosis_id,</a:t>
            </a:r>
          </a:p>
          <a:p>
            <a:r>
              <a:rPr sz="1100">
                <a:solidFill>
                  <a:srgbClr val="79C0FF"/>
                </a:solidFill>
                <a:latin typeface="Courier New"/>
              </a:rPr>
              <a:t>       diagnosis_code,</a:t>
            </a:r>
          </a:p>
          <a:p>
            <a:r>
              <a:rPr sz="1100">
                <a:solidFill>
                  <a:srgbClr val="79C0FF"/>
                </a:solidFill>
                <a:latin typeface="Courier New"/>
              </a:rPr>
              <a:t>       description</a:t>
            </a:r>
          </a:p>
          <a:p>
            <a:r>
              <a:rPr sz="1100">
                <a:solidFill>
                  <a:srgbClr val="79C0FF"/>
                </a:solidFill>
                <a:latin typeface="Courier New"/>
              </a:rPr>
              <a:t>FROM   diagnoses</a:t>
            </a:r>
          </a:p>
          <a:p>
            <a:r>
              <a:rPr sz="1100">
                <a:solidFill>
                  <a:srgbClr val="79C0FF"/>
                </a:solidFill>
                <a:latin typeface="Courier New"/>
              </a:rPr>
              <a:t>WHERE  diagnosis_code = 'G43'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343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6FC"/>
                </a:solidFill>
              </a:rPr>
              <a:t>Why it matters: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6634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C9D1D9"/>
                </a:solidFill>
              </a:rPr>
              <a:t>Index reads only 163 pages.
Sequential scan reads all 19,885 rows.
→  2.6× faster with the index.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5577840" cy="2240280"/>
          </a:xfrm>
          <a:prstGeom prst="rect">
            <a:avLst/>
          </a:prstGeom>
          <a:solidFill>
            <a:srgbClr val="0A140A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920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6D364"/>
                </a:solidFill>
              </a:rPr>
              <a:t>WITH index  (Bitmap Index Scan)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2240280"/>
            <a:ext cx="5212080" cy="1691640"/>
          </a:xfrm>
          <a:prstGeom prst="rect">
            <a:avLst/>
          </a:prstGeom>
          <a:solidFill>
            <a:srgbClr val="080D13"/>
          </a:solidFill>
          <a:ln w="1270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56248" y="2331720"/>
            <a:ext cx="4992624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9C0FF"/>
                </a:solidFill>
                <a:latin typeface="Courier New"/>
              </a:rPr>
              <a:t>Bitmap Heap Scan on diagnoses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  Recheck Cond: diagnosis_code='G43'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  Heap Blocks: exact=161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  -&gt; Bitmap Index Scan on idx_diagnoses_code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Execution Time: 0.69 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206240"/>
            <a:ext cx="5577840" cy="2331720"/>
          </a:xfrm>
          <a:prstGeom prst="rect">
            <a:avLst/>
          </a:prstGeom>
          <a:solidFill>
            <a:srgbClr val="140808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42976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85149"/>
                </a:solidFill>
              </a:rPr>
              <a:t>WITHOUT index  (Sequential Scan)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4617720"/>
            <a:ext cx="5212080" cy="1691640"/>
          </a:xfrm>
          <a:prstGeom prst="rect">
            <a:avLst/>
          </a:prstGeom>
          <a:solidFill>
            <a:srgbClr val="080D13"/>
          </a:solidFill>
          <a:ln w="1270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56248" y="4709159"/>
            <a:ext cx="4992624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9C0FF"/>
                </a:solidFill>
                <a:latin typeface="Courier New"/>
              </a:rPr>
              <a:t>Seq Scan on diagnoses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  Filter: diagnosis_code = 'G43'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  Rows Removed by Filter: 18,901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Execution Time: 1.80 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6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</a:rPr>
              <a:t>DEMO  ·  OPERATION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F6FC"/>
                </a:solidFill>
              </a:rPr>
              <a:t>Patient Encounter History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1430000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5486400" cy="47548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</a:rPr>
              <a:t>What the App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</a:rPr>
              <a:t>Retrieve a patient's visit history, most recent first.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788920"/>
            <a:ext cx="5120640" cy="1554480"/>
          </a:xfrm>
          <a:prstGeom prst="rect">
            <a:avLst/>
          </a:prstGeom>
          <a:solidFill>
            <a:srgbClr val="080D13"/>
          </a:solidFill>
          <a:ln w="1270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2880360"/>
            <a:ext cx="4901183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9C0FF"/>
                </a:solidFill>
                <a:latin typeface="Courier New"/>
              </a:rPr>
              <a:t>SELECT encounter_id, encounter_date,</a:t>
            </a:r>
          </a:p>
          <a:p>
            <a:r>
              <a:rPr sz="1100">
                <a:solidFill>
                  <a:srgbClr val="79C0FF"/>
                </a:solidFill>
                <a:latin typeface="Courier New"/>
              </a:rPr>
              <a:t>       chief_complaint</a:t>
            </a:r>
          </a:p>
          <a:p>
            <a:r>
              <a:rPr sz="1100">
                <a:solidFill>
                  <a:srgbClr val="79C0FF"/>
                </a:solidFill>
                <a:latin typeface="Courier New"/>
              </a:rPr>
              <a:t>FROM   encounters</a:t>
            </a:r>
          </a:p>
          <a:p>
            <a:r>
              <a:rPr sz="1100">
                <a:solidFill>
                  <a:srgbClr val="79C0FF"/>
                </a:solidFill>
                <a:latin typeface="Courier New"/>
              </a:rPr>
              <a:t>WHERE  patient_id = 50</a:t>
            </a:r>
          </a:p>
          <a:p>
            <a:r>
              <a:rPr sz="1100">
                <a:solidFill>
                  <a:srgbClr val="79C0FF"/>
                </a:solidFill>
                <a:latin typeface="Courier New"/>
              </a:rPr>
              <a:t>ORDER  BY encounter_date DESC</a:t>
            </a:r>
          </a:p>
          <a:p>
            <a:r>
              <a:rPr sz="1100">
                <a:solidFill>
                  <a:srgbClr val="79C0FF"/>
                </a:solidFill>
                <a:latin typeface="Courier New"/>
              </a:rPr>
              <a:t>LIMIT 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434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6FC"/>
                </a:solidFill>
              </a:rPr>
              <a:t>Key insight: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7548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</a:rPr>
              <a:t>Composite indexes support both filtering
(WHERE) and ordering (ORDER BY)
in a single index traversal.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5577840" cy="2743200"/>
          </a:xfrm>
          <a:prstGeom prst="rect">
            <a:avLst/>
          </a:prstGeom>
          <a:solidFill>
            <a:srgbClr val="0A140A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920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6D364"/>
                </a:solidFill>
              </a:rPr>
              <a:t>EXPLAIN ANALYZE output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2240280"/>
            <a:ext cx="5212080" cy="2148840"/>
          </a:xfrm>
          <a:prstGeom prst="rect">
            <a:avLst/>
          </a:prstGeom>
          <a:solidFill>
            <a:srgbClr val="080D13"/>
          </a:solidFill>
          <a:ln w="1270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56248" y="2331720"/>
            <a:ext cx="4992624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9C0FF"/>
                </a:solidFill>
                <a:latin typeface="Courier New"/>
              </a:rPr>
              <a:t>Index Scan Backward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  using idx_encounters_patient_date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  Index Cond: (patient_id = 50)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  Buffers: shared hit=12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Execution Time: 0.077 ms</a:t>
            </a:r>
          </a:p>
          <a:p>
            <a:endParaRPr sz="1000">
              <a:solidFill>
                <a:srgbClr val="79C0FF"/>
              </a:solidFill>
              <a:latin typeface="Courier New"/>
            </a:endParaRP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→  NO Sort node in the plan!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663440"/>
            <a:ext cx="5577840" cy="19202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47548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</a:rPr>
              <a:t>Why No Sort Node?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12064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•  Index stores rows in (patient_id, encounter_date) order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•  Backward scan = descending date for free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•  PostgreSQL reads leaf pages — already sorted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7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</a:rPr>
              <a:t>INTERNAL FOCUS  ·  ELIZA LOKE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F6FC"/>
                </a:solidFill>
              </a:rPr>
              <a:t>MVCC in PostgreSQL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1430000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5486400" cy="47548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</a:rPr>
              <a:t>How MVCC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9D1D9"/>
                </a:solidFill>
              </a:rPr>
              <a:t>•  Every row version stores xmin (created by) and xmax (deleted by)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9D1D9"/>
                </a:solidFill>
              </a:rPr>
              <a:t>•  UPDATE creates a new heap tuple — old one stays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9D1D9"/>
                </a:solidFill>
              </a:rPr>
              <a:t>•  Each transaction sees a consistent snapshot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56D364"/>
                </a:solidFill>
              </a:rPr>
              <a:t>•  Readers never block writers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56D364"/>
                </a:solidFill>
              </a:rPr>
              <a:t>•  Writers never block readers</a:t>
            </a:r>
          </a:p>
          <a:p>
            <a:pPr>
              <a:spcAft>
                <a:spcPts val="200"/>
              </a:spcAft>
            </a:pPr>
            <a:endParaRPr sz="1300" b="1">
              <a:solidFill>
                <a:srgbClr val="56D364"/>
              </a:solidFill>
            </a:endParaRP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F0F6FC"/>
                </a:solidFill>
              </a:rPr>
              <a:t>READ COMMITTED isolation (default):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9D1D9"/>
                </a:solidFill>
              </a:rPr>
              <a:t>•  Each SQL statement sees the latest committed data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9D1D9"/>
                </a:solidFill>
              </a:rPr>
              <a:t>•  No dirty reads — uncommitted changes are invisible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9D1D9"/>
                </a:solidFill>
              </a:rPr>
              <a:t>•  New snapshot taken at each statement start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5577840" cy="47548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</a:rPr>
              <a:t>Row-Level Locking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3172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9D1D9"/>
                </a:solidFill>
              </a:rPr>
              <a:t>SELECT FOR UPDATE acquires an exclusive row lock:</a:t>
            </a:r>
          </a:p>
          <a:p>
            <a:pPr>
              <a:spcAft>
                <a:spcPts val="200"/>
              </a:spcAft>
            </a:pPr>
            <a:endParaRPr sz="1300" b="0">
              <a:solidFill>
                <a:srgbClr val="C9D1D9"/>
              </a:solidFill>
            </a:endParaRP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9D1D9"/>
                </a:solidFill>
              </a:rPr>
              <a:t>•  Concurrent writers must wait for the lock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9D1D9"/>
                </a:solidFill>
              </a:rPr>
              <a:t>•  Readers are NOT blocked (still use MVCC)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9D1D9"/>
                </a:solidFill>
              </a:rPr>
              <a:t>•  Lock is released on COMMIT or ROLLBACK</a:t>
            </a:r>
          </a:p>
          <a:p>
            <a:pPr>
              <a:spcAft>
                <a:spcPts val="200"/>
              </a:spcAft>
            </a:pPr>
            <a:endParaRPr sz="1300" b="0">
              <a:solidFill>
                <a:srgbClr val="C9D1D9"/>
              </a:solidFill>
            </a:endParaRP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F0F6FC"/>
                </a:solidFill>
              </a:rPr>
              <a:t>MVCC vs Locking:</a:t>
            </a:r>
          </a:p>
          <a:p>
            <a:pPr>
              <a:spcAft>
                <a:spcPts val="200"/>
              </a:spcAft>
            </a:pPr>
            <a:endParaRPr sz="1300" b="1">
              <a:solidFill>
                <a:srgbClr val="F0F6FC"/>
              </a:solidFill>
            </a:endParaRP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56D364"/>
                </a:solidFill>
              </a:rPr>
              <a:t>MVCC          →  read/write concurrency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3B341"/>
                </a:solidFill>
              </a:rPr>
              <a:t>SELECT FOR UPDATE  →  write/write serialization</a:t>
            </a:r>
          </a:p>
          <a:p>
            <a:pPr>
              <a:spcAft>
                <a:spcPts val="200"/>
              </a:spcAft>
            </a:pPr>
            <a:endParaRPr sz="1300" b="0">
              <a:solidFill>
                <a:srgbClr val="E3B341"/>
              </a:solidFill>
            </a:endParaRP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9D1D9"/>
                </a:solidFill>
              </a:rPr>
              <a:t>Together they handle all concurrency scenarios.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8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</a:rPr>
              <a:t>DEMO  ·  OPERATION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F6FC"/>
                </a:solidFill>
              </a:rPr>
              <a:t>Concurrent Update — MVCC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1430000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5029200" cy="47548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</a:rPr>
              <a:t>Timeline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774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A6FF"/>
                </a:solidFill>
              </a:rPr>
              <a:t>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3774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6FC"/>
                </a:solidFill>
              </a:rPr>
              <a:t>Session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377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6FC"/>
                </a:solidFill>
              </a:rPr>
              <a:t>Session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4436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t1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4436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</a:rPr>
              <a:t>UPDATE outcome='Improved'
(not committed)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9443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6D364"/>
                </a:solidFill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11296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t2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511296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</a:rPr>
              <a:t>… waiting 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51129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6D364"/>
                </a:solidFill>
              </a:rPr>
              <a:t>READ → sees 'Improving'
(old committed value)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078224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t3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078224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</a:rPr>
              <a:t>COMMIT 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07822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6D364"/>
                </a:solidFill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64515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t4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64515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6451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6D364"/>
                </a:solidFill>
              </a:rPr>
              <a:t>READ → sees 'Improved'
(new value)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1828800"/>
            <a:ext cx="6126480" cy="47548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97880" y="19202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</a:rPr>
              <a:t>What PostgreSQL Does Internally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233172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Session 1's UPDATE creates a new heap tuple: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   xmin = Session 1's transaction ID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   Old tuple's xmax = Session 1's xid</a:t>
            </a:r>
          </a:p>
          <a:p>
            <a:pPr>
              <a:spcAft>
                <a:spcPts val="200"/>
              </a:spcAft>
            </a:pPr>
            <a:endParaRPr sz="1200" b="0">
              <a:solidFill>
                <a:srgbClr val="C9D1D9"/>
              </a:solidFill>
            </a:endParaRP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Session 2 checks tuple visibility: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   Session 1's xid is NOT in committed set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56D364"/>
                </a:solidFill>
              </a:rPr>
              <a:t>   → Returns the old committed version</a:t>
            </a:r>
          </a:p>
          <a:p>
            <a:pPr>
              <a:spcAft>
                <a:spcPts val="200"/>
              </a:spcAft>
            </a:pPr>
            <a:endParaRPr sz="1200" b="1">
              <a:solidFill>
                <a:srgbClr val="56D364"/>
              </a:solidFill>
            </a:endParaRP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After Session 1 COMMIT: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   Session 1's xid is now committed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E3B341"/>
                </a:solidFill>
              </a:rPr>
              <a:t>   → New version becomes visible</a:t>
            </a:r>
          </a:p>
          <a:p>
            <a:pPr>
              <a:spcAft>
                <a:spcPts val="200"/>
              </a:spcAft>
            </a:pPr>
            <a:endParaRPr sz="1200" b="1">
              <a:solidFill>
                <a:srgbClr val="E3B341"/>
              </a:solidFill>
            </a:endParaRP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F0F6FC"/>
                </a:solidFill>
              </a:rPr>
              <a:t>Why it matters: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No locking needed between reader and writer.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Critical in healthcare: reads must never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stall due to an in-progress update.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9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</a:rPr>
              <a:t>DEMO  ·  OPERATION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F6FC"/>
                </a:solidFill>
              </a:rPr>
              <a:t>Row-Level Locking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1430000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5486400" cy="47548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</a:rPr>
              <a:t>A clinician locks a record before writing to prevent conflicting updates.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880360"/>
            <a:ext cx="5120640" cy="2423160"/>
          </a:xfrm>
          <a:prstGeom prst="rect">
            <a:avLst/>
          </a:prstGeom>
          <a:solidFill>
            <a:srgbClr val="080D13"/>
          </a:solidFill>
          <a:ln w="1270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2971800"/>
            <a:ext cx="4901183" cy="2240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9C0FF"/>
                </a:solidFill>
                <a:latin typeface="Courier New"/>
              </a:rPr>
              <a:t>-- Session 1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SELECT outcome FROM treatments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WHERE  treatment_id = 2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FOR UPDATE;</a:t>
            </a:r>
          </a:p>
          <a:p>
            <a:endParaRPr sz="1000">
              <a:solidFill>
                <a:srgbClr val="79C0FF"/>
              </a:solidFill>
              <a:latin typeface="Courier New"/>
            </a:endParaRP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-- (holds lock for 4 seconds)</a:t>
            </a:r>
          </a:p>
          <a:p>
            <a:endParaRPr sz="1000">
              <a:solidFill>
                <a:srgbClr val="79C0FF"/>
              </a:solidFill>
              <a:latin typeface="Courier New"/>
            </a:endParaRP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UPDATE treatments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  SET  outcome = 'Recovered'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  WHERE treatment_id = 2;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COMMIT;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577840" cy="47548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</a:rPr>
              <a:t>What Happens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3172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1.  Session 1 acquires exclusive row lock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2.  Session 2 attempts UPDATE on same row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F85149"/>
                </a:solidFill>
              </a:rPr>
              <a:t>3.  Session 2 BLOCKS — waits 3.5 seconds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4.  Session 1 commits → lock released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56D364"/>
                </a:solidFill>
              </a:rPr>
              <a:t>5.  Session 2 unblocks and succeeds</a:t>
            </a:r>
          </a:p>
          <a:p>
            <a:pPr>
              <a:spcAft>
                <a:spcPts val="200"/>
              </a:spcAft>
            </a:pPr>
            <a:endParaRPr sz="1200" b="1">
              <a:solidFill>
                <a:srgbClr val="56D364"/>
              </a:solidFill>
            </a:endParaRP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F0F6FC"/>
                </a:solidFill>
              </a:rPr>
              <a:t>MVCC vs SELECT FOR UPDATE:</a:t>
            </a:r>
          </a:p>
          <a:p>
            <a:pPr>
              <a:spcAft>
                <a:spcPts val="200"/>
              </a:spcAft>
            </a:pPr>
            <a:endParaRPr sz="1200" b="1">
              <a:solidFill>
                <a:srgbClr val="F0F6FC"/>
              </a:solidFill>
            </a:endParaRP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56D364"/>
                </a:solidFill>
              </a:rPr>
              <a:t>MVCC handles read/write concurrency.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Readers see old version, no blocking.</a:t>
            </a:r>
          </a:p>
          <a:p>
            <a:pPr>
              <a:spcAft>
                <a:spcPts val="200"/>
              </a:spcAft>
            </a:pPr>
            <a:endParaRPr sz="1200" b="0">
              <a:solidFill>
                <a:srgbClr val="C9D1D9"/>
              </a:solidFill>
            </a:endParaRP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3B341"/>
                </a:solidFill>
              </a:rPr>
              <a:t>SELECT FOR UPDATE handles write/write.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Prevents last-write-wins conflicts.</a:t>
            </a:r>
          </a:p>
          <a:p>
            <a:pPr>
              <a:spcAft>
                <a:spcPts val="200"/>
              </a:spcAft>
            </a:pPr>
            <a:endParaRPr sz="1200" b="0">
              <a:solidFill>
                <a:srgbClr val="C9D1D9"/>
              </a:solidFill>
            </a:endParaRP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In healthcare: two nurses cannot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overwrite each other's treatment notes.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10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</a:rPr>
              <a:t>DEMO  ·  OPERATION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F6FC"/>
                </a:solidFill>
              </a:rPr>
              <a:t>Monthly Diagnosis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1430000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5486400" cy="47548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</a:rPr>
              <a:t>What the App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</a:rPr>
              <a:t>Administrator generates monthly report of diagnosis counts.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788920"/>
            <a:ext cx="5120640" cy="2743200"/>
          </a:xfrm>
          <a:prstGeom prst="rect">
            <a:avLst/>
          </a:prstGeom>
          <a:solidFill>
            <a:srgbClr val="080D13"/>
          </a:solidFill>
          <a:ln w="1270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2880360"/>
            <a:ext cx="4901183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9C0FF"/>
                </a:solidFill>
                <a:latin typeface="Courier New"/>
              </a:rPr>
              <a:t>SELECT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  DATE_TRUNC('month', e.encounter_date)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    AS month,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  d.diagnosis_code,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  COUNT(*) AS diagnosis_count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FROM diagnoses d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JOIN encounters e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     ON d.encounter_id = e.encounter_id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GROUP BY 1, 2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ORDER BY month DESC,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         diagnosis_count DESC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577840" cy="47548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</a:rPr>
              <a:t>Query Plan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2286000"/>
            <a:ext cx="5212080" cy="2011680"/>
          </a:xfrm>
          <a:prstGeom prst="rect">
            <a:avLst/>
          </a:prstGeom>
          <a:solidFill>
            <a:srgbClr val="080D13"/>
          </a:solidFill>
          <a:ln w="1270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56248" y="2377440"/>
            <a:ext cx="4992624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9C0FF"/>
                </a:solidFill>
                <a:latin typeface="Courier New"/>
              </a:rPr>
              <a:t>Hash Join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  -&gt; Seq Scan on diagnoses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       (19,885 rows scanned)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  -&gt; Hash / Seq Scan on encounters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       (10,000 rows scanned)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HashAggregate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  Group Key: month, diagnosis_code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Execution Time: 25.9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3891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</a:rPr>
              <a:t>Why Sequential Scan here?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75488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•  Query must touch ALL rows to compute COUNT(*)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•  Index scan adds overhead with no benefit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56D364"/>
                </a:solidFill>
              </a:rPr>
              <a:t>•  Planner correctly chooses Seq Scan + Hash Join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•  Contrasts with Ops 1 &amp; 2 where queries are selective</a:t>
            </a:r>
          </a:p>
          <a:p>
            <a:pPr>
              <a:spcAft>
                <a:spcPts val="200"/>
              </a:spcAft>
            </a:pPr>
            <a:endParaRPr sz="1200" b="0">
              <a:solidFill>
                <a:srgbClr val="C9D1D9"/>
              </a:solidFill>
            </a:endParaRP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The planner is smart — it uses indexes only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when they actually help.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0633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1430000" y="6439075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11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75435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</a:rP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1195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F6FC"/>
                </a:solidFill>
              </a:rPr>
              <a:t>PostgreSQL vs MySQL vs MongoDB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47035"/>
            <a:ext cx="11430000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775635"/>
            <a:ext cx="2606040" cy="457200"/>
          </a:xfrm>
          <a:prstGeom prst="rect">
            <a:avLst/>
          </a:prstGeom>
          <a:solidFill>
            <a:srgbClr val="1F6FEB"/>
          </a:solidFill>
          <a:ln w="63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1821354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6FC"/>
                </a:solidFill>
              </a:rPr>
              <a:t>Feature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775635"/>
            <a:ext cx="2971800" cy="457200"/>
          </a:xfrm>
          <a:prstGeom prst="rect">
            <a:avLst/>
          </a:prstGeom>
          <a:solidFill>
            <a:srgbClr val="1F6FEB"/>
          </a:solidFill>
          <a:ln w="63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8960" y="1821354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6FC"/>
                </a:solidFill>
              </a:rPr>
              <a:t>PostgreSQL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775635"/>
            <a:ext cx="2971800" cy="457200"/>
          </a:xfrm>
          <a:prstGeom prst="rect">
            <a:avLst/>
          </a:prstGeom>
          <a:solidFill>
            <a:srgbClr val="1F6FEB"/>
          </a:solidFill>
          <a:ln w="63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1821354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6FC"/>
                </a:solidFill>
              </a:rPr>
              <a:t>MySQL (InnoDB)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1775635"/>
            <a:ext cx="2834640" cy="457200"/>
          </a:xfrm>
          <a:prstGeom prst="rect">
            <a:avLst/>
          </a:prstGeom>
          <a:solidFill>
            <a:srgbClr val="1F6FEB"/>
          </a:solidFill>
          <a:ln w="63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35440" y="182135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6FC"/>
                </a:solidFill>
              </a:rPr>
              <a:t>MongoDB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278555"/>
            <a:ext cx="2606040" cy="5486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79" y="234256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Primary index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2278555"/>
            <a:ext cx="2971800" cy="5486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108960" y="2342562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6D364"/>
                </a:solidFill>
              </a:rPr>
              <a:t>Heap + secondary B-tree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2278555"/>
            <a:ext cx="2971800" cy="5486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72200" y="2342562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</a:rPr>
              <a:t>Clustered B-tree (PK)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2278555"/>
            <a:ext cx="2834640" cy="5486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0" y="234256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</a:rPr>
              <a:t>B-tree on _id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845483"/>
            <a:ext cx="2606040" cy="548640"/>
          </a:xfrm>
          <a:prstGeom prst="rect">
            <a:avLst/>
          </a:prstGeom>
          <a:solidFill>
            <a:srgbClr val="12171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79" y="2909491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Concurrency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2845483"/>
            <a:ext cx="2971800" cy="548640"/>
          </a:xfrm>
          <a:prstGeom prst="rect">
            <a:avLst/>
          </a:prstGeom>
          <a:solidFill>
            <a:srgbClr val="12171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08960" y="2909491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6D364"/>
                </a:solidFill>
              </a:rPr>
              <a:t>MVCC — no read locks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845483"/>
            <a:ext cx="2971800" cy="548640"/>
          </a:xfrm>
          <a:prstGeom prst="rect">
            <a:avLst/>
          </a:prstGeom>
          <a:solidFill>
            <a:srgbClr val="12171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72200" y="2909491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</a:rPr>
              <a:t>MVCC + gap locks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2845483"/>
            <a:ext cx="2834640" cy="548640"/>
          </a:xfrm>
          <a:prstGeom prst="rect">
            <a:avLst/>
          </a:prstGeom>
          <a:solidFill>
            <a:srgbClr val="12171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35440" y="2909491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</a:rPr>
              <a:t>Document-level locking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412411"/>
            <a:ext cx="2606040" cy="5486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79" y="3476419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Composite index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3412411"/>
            <a:ext cx="2971800" cy="5486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108960" y="3476419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6D364"/>
                </a:solidFill>
              </a:rPr>
              <a:t>Skip sort, prefix scan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3412411"/>
            <a:ext cx="2971800" cy="5486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72200" y="3476419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</a:rPr>
              <a:t>Similar support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412411"/>
            <a:ext cx="2834640" cy="5486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35440" y="34764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9D1D9"/>
                </a:solidFill>
              </a:rPr>
              <a:t>Compound indexes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3979339"/>
            <a:ext cx="2606040" cy="548640"/>
          </a:xfrm>
          <a:prstGeom prst="rect">
            <a:avLst/>
          </a:prstGeom>
          <a:solidFill>
            <a:srgbClr val="12171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1479" y="4043347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EXPLAIN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3979339"/>
            <a:ext cx="2971800" cy="548640"/>
          </a:xfrm>
          <a:prstGeom prst="rect">
            <a:avLst/>
          </a:prstGeom>
          <a:solidFill>
            <a:srgbClr val="12171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108960" y="4043347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6D364"/>
                </a:solidFill>
              </a:rPr>
              <a:t>EXPLAIN ANALYZE + BUFFERS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3979339"/>
            <a:ext cx="2971800" cy="548640"/>
          </a:xfrm>
          <a:prstGeom prst="rect">
            <a:avLst/>
          </a:prstGeom>
          <a:solidFill>
            <a:srgbClr val="12171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72200" y="4043347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</a:rPr>
              <a:t>EXPLAIN FORMAT=JSON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0" y="3979339"/>
            <a:ext cx="2834640" cy="548640"/>
          </a:xfrm>
          <a:prstGeom prst="rect">
            <a:avLst/>
          </a:prstGeom>
          <a:solidFill>
            <a:srgbClr val="12171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35440" y="4043347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</a:rPr>
              <a:t>explain('executionStats')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546266"/>
            <a:ext cx="2606040" cy="5486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11479" y="4610275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Schema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17520" y="4546266"/>
            <a:ext cx="2971800" cy="5486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108960" y="4610275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6D364"/>
                </a:solidFill>
              </a:rPr>
              <a:t>Strict relational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760" y="4546266"/>
            <a:ext cx="2971800" cy="5486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72200" y="4610275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</a:rPr>
              <a:t>Strict relational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0" y="4546266"/>
            <a:ext cx="2834640" cy="5486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235440" y="4610275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</a:rPr>
              <a:t>Flexible document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5113195"/>
            <a:ext cx="2606040" cy="548640"/>
          </a:xfrm>
          <a:prstGeom prst="rect">
            <a:avLst/>
          </a:prstGeom>
          <a:solidFill>
            <a:srgbClr val="12171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11479" y="5177203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Write model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17520" y="5113195"/>
            <a:ext cx="2971800" cy="548640"/>
          </a:xfrm>
          <a:prstGeom prst="rect">
            <a:avLst/>
          </a:prstGeom>
          <a:solidFill>
            <a:srgbClr val="12171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108960" y="5177203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56D364"/>
                </a:solidFill>
              </a:rPr>
              <a:t>Heap append + WAL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60" y="5113195"/>
            <a:ext cx="2971800" cy="548640"/>
          </a:xfrm>
          <a:prstGeom prst="rect">
            <a:avLst/>
          </a:prstGeom>
          <a:solidFill>
            <a:srgbClr val="12171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172200" y="5177203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</a:rPr>
              <a:t>In-place update + redo log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0" y="5113195"/>
            <a:ext cx="2834640" cy="548640"/>
          </a:xfrm>
          <a:prstGeom prst="rect">
            <a:avLst/>
          </a:prstGeom>
          <a:solidFill>
            <a:srgbClr val="12171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235440" y="5177203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</a:rPr>
              <a:t>WiredTiger journal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A01F05E-B99E-1180-0761-062535F16C0E}"/>
              </a:ext>
            </a:extLst>
          </p:cNvPr>
          <p:cNvSpPr txBox="1"/>
          <p:nvPr/>
        </p:nvSpPr>
        <p:spPr>
          <a:xfrm>
            <a:off x="212651" y="5808460"/>
            <a:ext cx="11857429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56D364"/>
                </a:solidFill>
              </a:rPr>
              <a:t>Key difference: </a:t>
            </a:r>
            <a:r>
              <a:rPr lang="en-US" sz="1600" dirty="0">
                <a:solidFill>
                  <a:schemeClr val="bg1"/>
                </a:solidFill>
              </a:rPr>
              <a:t>PostgreSQL's heap storage separates table data from indexes — any column can be efficiently indexed without reorganizing the table. MySQL's clustered index means secondary index lookups always double-fetch through the PK.</a:t>
            </a:r>
            <a:endParaRPr lang="ru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12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F6FC"/>
                </a:solidFill>
              </a:rPr>
              <a:t>Summary &amp; Lessons Learned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1430000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3749039" cy="46634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</a:rPr>
              <a:t>B-Tree Indexing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3474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• 2.6× faster lookup with index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• Bitmap scan for high-selectivity queries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• Composite index eliminates Sort node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• Seq Scan wins for full-table aggregations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• Planner decides automatically based on 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874519"/>
            <a:ext cx="3749039" cy="46634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9659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6D364"/>
                </a:solidFill>
              </a:rPr>
              <a:t>MVCC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423160"/>
            <a:ext cx="3474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• No dirty reads under READ COMMITTED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• Readers and writers don't block each other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• Row versioning via xmin/xmax in the heap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• SELECT FOR UPDATE for write serialization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• Both mechanisms work together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874519"/>
            <a:ext cx="3749039" cy="46634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19659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3B341"/>
                </a:solidFill>
              </a:rPr>
              <a:t>Key 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423160"/>
            <a:ext cx="3474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• Every app operation maps to a DB internal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• Index design directly affects the query plan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• Dataset size determines if index is used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• MVCC is why PostgreSQL scales under concurrency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9D1D9"/>
                </a:solidFill>
              </a:rPr>
              <a:t>• EXPLAIN ANALYZE makes internals observable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492240"/>
            <a:ext cx="11430000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65379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949E"/>
                </a:solidFill>
              </a:rPr>
              <a:t>Diana Rulanova  ·  Eliza Loke  ·  DSCI 551 Spring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Тема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481</TotalTime>
  <Words>1649</Words>
  <Application>Microsoft Macintosh PowerPoint</Application>
  <PresentationFormat>Произвольный</PresentationFormat>
  <Paragraphs>298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Courier New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Diana Rulanova</cp:lastModifiedBy>
  <cp:revision>2</cp:revision>
  <dcterms:created xsi:type="dcterms:W3CDTF">2013-01-27T09:14:16Z</dcterms:created>
  <dcterms:modified xsi:type="dcterms:W3CDTF">2026-04-19T11:14:04Z</dcterms:modified>
  <cp:category/>
</cp:coreProperties>
</file>